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23"/>
  </p:notesMasterIdLst>
  <p:sldIdLst>
    <p:sldId id="256" r:id="rId2"/>
    <p:sldId id="271" r:id="rId3"/>
    <p:sldId id="276" r:id="rId4"/>
    <p:sldId id="272" r:id="rId5"/>
    <p:sldId id="289" r:id="rId6"/>
    <p:sldId id="275" r:id="rId7"/>
    <p:sldId id="292" r:id="rId8"/>
    <p:sldId id="288" r:id="rId9"/>
    <p:sldId id="274" r:id="rId10"/>
    <p:sldId id="287" r:id="rId11"/>
    <p:sldId id="277" r:id="rId12"/>
    <p:sldId id="260" r:id="rId13"/>
    <p:sldId id="293" r:id="rId14"/>
    <p:sldId id="286" r:id="rId15"/>
    <p:sldId id="261" r:id="rId16"/>
    <p:sldId id="285" r:id="rId17"/>
    <p:sldId id="278" r:id="rId18"/>
    <p:sldId id="284" r:id="rId19"/>
    <p:sldId id="282" r:id="rId20"/>
    <p:sldId id="290" r:id="rId21"/>
    <p:sldId id="29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1"/>
    <p:restoredTop sz="86268"/>
  </p:normalViewPr>
  <p:slideViewPr>
    <p:cSldViewPr snapToGrid="0">
      <p:cViewPr varScale="1">
        <p:scale>
          <a:sx n="174" d="100"/>
          <a:sy n="174" d="100"/>
        </p:scale>
        <p:origin x="239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E211B9FA-8CB0-9347-9780-F0C7613563D5}" type="datetimeFigureOut">
              <a:rPr lang="en-US"/>
              <a:pPr/>
              <a:t>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alibri" panose="020F0502020204030204" pitchFamily="34" charset="0"/>
              </a:defRPr>
            </a:lvl1pPr>
          </a:lstStyle>
          <a:p>
            <a:fld id="{57FAE2F2-15A5-7946-8E81-C5B8DDF8F3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09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https://www.unmannedsystemstechnology.com/company/sense-aeronautics/automatic-target-recognition/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AE2F2-15A5-7946-8E81-C5B8DDF8F3A5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64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https://www.anduril.com/mission-autonomy/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AE2F2-15A5-7946-8E81-C5B8DDF8F3A5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15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AE2F2-15A5-7946-8E81-C5B8DDF8F3A5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81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AE2F2-15A5-7946-8E81-C5B8DDF8F3A5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904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AE2F2-15A5-7946-8E81-C5B8DDF8F3A5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794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FAE2F2-15A5-7946-8E81-C5B8DDF8F3A5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27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9D37-DE82-A944-A799-DA76EC8094F2}" type="datetimeFigureOut">
              <a:rPr lang="en-US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304B-7719-154A-8737-3D00501421C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95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9D37-DE82-A944-A799-DA76EC8094F2}" type="datetimeFigureOut">
              <a:rPr lang="en-US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304B-7719-154A-8737-3D00501421C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48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9D37-DE82-A944-A799-DA76EC8094F2}" type="datetimeFigureOut">
              <a:rPr lang="en-US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304B-7719-154A-8737-3D00501421C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4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9D37-DE82-A944-A799-DA76EC8094F2}" type="datetimeFigureOut">
              <a:rPr lang="en-US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304B-7719-154A-8737-3D00501421C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28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9D37-DE82-A944-A799-DA76EC8094F2}" type="datetimeFigureOut">
              <a:rPr lang="en-US"/>
              <a:t>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304B-7719-154A-8737-3D00501421C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54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9D37-DE82-A944-A799-DA76EC8094F2}" type="datetimeFigureOut">
              <a:rPr lang="en-US"/>
              <a:t>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304B-7719-154A-8737-3D00501421C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46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9D37-DE82-A944-A799-DA76EC8094F2}" type="datetimeFigureOut">
              <a:rPr lang="en-US"/>
              <a:t>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304B-7719-154A-8737-3D00501421C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80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9D37-DE82-A944-A799-DA76EC8094F2}" type="datetimeFigureOut">
              <a:rPr lang="en-US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304B-7719-154A-8737-3D00501421C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89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9D37-DE82-A944-A799-DA76EC8094F2}" type="datetimeFigureOut">
              <a:rPr lang="en-US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304B-7719-154A-8737-3D00501421C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63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9D37-DE82-A944-A799-DA76EC8094F2}" type="datetimeFigureOut">
              <a:rPr lang="en-US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304B-7719-154A-8737-3D00501421C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6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49D37-DE82-A944-A799-DA76EC8094F2}" type="datetimeFigureOut">
              <a:rPr lang="en-US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304B-7719-154A-8737-3D00501421C3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0CE49D37-DE82-A944-A799-DA76EC8094F2}" type="datetimeFigureOut">
              <a:rPr lang="en-US"/>
              <a:pPr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9E7304B-7719-154A-8737-3D00501421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5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12C4-FA53-CF13-A140-07F426F10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2376" y="213360"/>
            <a:ext cx="7022584" cy="1078027"/>
          </a:xfrm>
        </p:spPr>
        <p:txBody>
          <a:bodyPr>
            <a:normAutofit fontScale="90000"/>
          </a:bodyPr>
          <a:lstStyle/>
          <a:p>
            <a:pPr algn="l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Catching</a:t>
            </a:r>
            <a:r>
              <a:rPr lang="en-US"/>
              <a:t> up to </a:t>
            </a: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Anduril</a:t>
            </a:r>
          </a:p>
        </p:txBody>
      </p:sp>
    </p:spTree>
    <p:extLst>
      <p:ext uri="{BB962C8B-B14F-4D97-AF65-F5344CB8AC3E}">
        <p14:creationId xmlns:p14="http://schemas.microsoft.com/office/powerpoint/2010/main" val="1212839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DD652-6846-363B-B4BF-E8122BE24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016" y="1253331"/>
            <a:ext cx="10515600" cy="4351338"/>
          </a:xfrm>
        </p:spPr>
        <p:txBody>
          <a:bodyPr/>
          <a:lstStyle/>
          <a:p>
            <a:r>
              <a:rPr lang="en-US">
                <a:cs typeface="Calibri" panose="020F0502020204030204" pitchFamily="34" charset="0"/>
              </a:rPr>
              <a:t>Path Planning</a:t>
            </a:r>
          </a:p>
          <a:p>
            <a:pPr lvl="1"/>
            <a:r>
              <a:rPr lang="en-US">
                <a:cs typeface="Calibri" panose="020F0502020204030204" pitchFamily="34" charset="0"/>
              </a:rPr>
              <a:t>Navigation</a:t>
            </a:r>
          </a:p>
          <a:p>
            <a:pPr lvl="1"/>
            <a:r>
              <a:rPr lang="en-US">
                <a:cs typeface="Calibri" panose="020F0502020204030204" pitchFamily="34" charset="0"/>
              </a:rPr>
              <a:t>Motion Control</a:t>
            </a:r>
          </a:p>
          <a:p>
            <a:pPr lvl="1"/>
            <a:r>
              <a:rPr lang="en-US">
                <a:cs typeface="Calibri" panose="020F0502020204030204" pitchFamily="34" charset="0"/>
              </a:rPr>
              <a:t>Autonomy</a:t>
            </a:r>
          </a:p>
          <a:p>
            <a:r>
              <a:rPr lang="en-US">
                <a:cs typeface="Calibri" panose="020F0502020204030204" pitchFamily="34" charset="0"/>
              </a:rPr>
              <a:t>Automated Target Recognition</a:t>
            </a:r>
          </a:p>
          <a:p>
            <a:pPr lvl="1"/>
            <a:r>
              <a:rPr lang="en-US">
                <a:cs typeface="Calibri" panose="020F0502020204030204" pitchFamily="34" charset="0"/>
              </a:rPr>
              <a:t>Single Shot Detector (SSD)</a:t>
            </a:r>
          </a:p>
          <a:p>
            <a:pPr lvl="1"/>
            <a:r>
              <a:rPr lang="en-US">
                <a:cs typeface="Calibri" panose="020F0502020204030204" pitchFamily="34" charset="0"/>
              </a:rPr>
              <a:t>Real-Time Detection Transformers (RT-DETR)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59854B-9201-4DEE-B770-677D547F1245}"/>
              </a:ext>
            </a:extLst>
          </p:cNvPr>
          <p:cNvSpPr txBox="1"/>
          <p:nvPr/>
        </p:nvSpPr>
        <p:spPr>
          <a:xfrm>
            <a:off x="420016" y="309390"/>
            <a:ext cx="41122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Calibri" panose="020F0502020204030204" pitchFamily="34" charset="0"/>
                <a:cs typeface="Calibri" panose="020F0502020204030204" pitchFamily="34" charset="0"/>
              </a:rPr>
              <a:t>Career Summary</a:t>
            </a:r>
          </a:p>
        </p:txBody>
      </p:sp>
    </p:spTree>
    <p:extLst>
      <p:ext uri="{BB962C8B-B14F-4D97-AF65-F5344CB8AC3E}">
        <p14:creationId xmlns:p14="http://schemas.microsoft.com/office/powerpoint/2010/main" val="3711912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9F43B6-4604-63A7-0C88-0BDD6AF2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 Planning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2D7E5-46FC-42BD-E648-399FC0666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allows robots to have control over their location</a:t>
            </a:r>
          </a:p>
        </p:txBody>
      </p:sp>
    </p:spTree>
    <p:extLst>
      <p:ext uri="{BB962C8B-B14F-4D97-AF65-F5344CB8AC3E}">
        <p14:creationId xmlns:p14="http://schemas.microsoft.com/office/powerpoint/2010/main" val="3433007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FDF5-702C-0D3D-CE33-29152722C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/>
              <a:t>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DDC1-9F46-FD6E-FAE8-43C36DA13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/>
              <a:t>In most situations shortest-time = shortest-distance = shortest-energy</a:t>
            </a:r>
          </a:p>
          <a:p>
            <a:r>
              <a:rPr lang="en-US"/>
              <a:t>How to navigate in domains where this is true</a:t>
            </a:r>
          </a:p>
          <a:p>
            <a:r>
              <a:rPr lang="en-US"/>
              <a:t>Collapse euclidean space into a graph-based representation</a:t>
            </a:r>
          </a:p>
          <a:p>
            <a:r>
              <a:rPr lang="en-US"/>
              <a:t>Visibility Graphs</a:t>
            </a:r>
          </a:p>
          <a:p>
            <a:pPr lvl="1"/>
            <a:r>
              <a:rPr lang="en-US"/>
              <a:t>Naive (n^4)</a:t>
            </a:r>
          </a:p>
          <a:p>
            <a:pPr lvl="1"/>
            <a:r>
              <a:rPr lang="en-US"/>
              <a:t>Lee's Visibility Algorithm (n^2 log(n))</a:t>
            </a:r>
          </a:p>
          <a:p>
            <a:pPr lvl="1"/>
            <a:r>
              <a:rPr lang="en-US"/>
              <a:t>Ghosh-Mount Algorithm (nlog(n))</a:t>
            </a:r>
          </a:p>
        </p:txBody>
      </p:sp>
    </p:spTree>
    <p:extLst>
      <p:ext uri="{BB962C8B-B14F-4D97-AF65-F5344CB8AC3E}">
        <p14:creationId xmlns:p14="http://schemas.microsoft.com/office/powerpoint/2010/main" val="2010082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8DDC4-6E48-0766-5B16-B1EF57289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Postmortem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90D24-35E2-3A90-35A7-074813C04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77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CE26F-9D44-BA4C-01F1-4A633953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/>
              <a:t>Motion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61588-5CC3-5226-5669-213D21295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09412" cy="4351338"/>
          </a:xfrm>
        </p:spPr>
        <p:txBody>
          <a:bodyPr/>
          <a:lstStyle/>
          <a:p>
            <a:r>
              <a:rPr lang="en-US"/>
              <a:t>Efficiently navigate through time-energy-space constrained domains</a:t>
            </a:r>
          </a:p>
          <a:p>
            <a:r>
              <a:rPr lang="en-US"/>
              <a:t>Shortest time != shortest distance != shortest energy</a:t>
            </a:r>
          </a:p>
          <a:p>
            <a:r>
              <a:rPr lang="en-US"/>
              <a:t>Nonlinear optimization</a:t>
            </a:r>
          </a:p>
        </p:txBody>
      </p:sp>
    </p:spTree>
    <p:extLst>
      <p:ext uri="{BB962C8B-B14F-4D97-AF65-F5344CB8AC3E}">
        <p14:creationId xmlns:p14="http://schemas.microsoft.com/office/powerpoint/2010/main" val="1985342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F03E-F67F-99BE-C3E9-867E147CC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Path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D018B-633E-7139-9F65-5DC190132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 Convex optimization to find good bezier curve control points</a:t>
            </a:r>
          </a:p>
          <a:p>
            <a:r>
              <a:rPr lang="en-US"/>
              <a:t>Use Mixed Integer planning to find good edges</a:t>
            </a:r>
          </a:p>
        </p:txBody>
      </p:sp>
    </p:spTree>
    <p:extLst>
      <p:ext uri="{BB962C8B-B14F-4D97-AF65-F5344CB8AC3E}">
        <p14:creationId xmlns:p14="http://schemas.microsoft.com/office/powerpoint/2010/main" val="103095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388E2-9E80-50F5-CF51-B358ADD4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Postmortem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64266-144F-AE5B-95F4-E50C6073C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5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7BED-4EF8-32BE-160E-19A1D62C3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27FD6-B9A9-4F02-F614-BD1D3E631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/>
              <a:t>Allows robots to conduct surveillance autonomously</a:t>
            </a:r>
          </a:p>
          <a:p>
            <a:r>
              <a:rPr lang="en-US"/>
              <a:t>Latency Graphs</a:t>
            </a:r>
          </a:p>
        </p:txBody>
      </p:sp>
    </p:spTree>
    <p:extLst>
      <p:ext uri="{BB962C8B-B14F-4D97-AF65-F5344CB8AC3E}">
        <p14:creationId xmlns:p14="http://schemas.microsoft.com/office/powerpoint/2010/main" val="3962800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296A4-5E16-71E9-8FA1-97798BF0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Postmortem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49B88-BB29-23E7-51DA-43BDF55D2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548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747FC82-697B-13BE-98B4-C11D6CE65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Automated Target Recognition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2A3FB5-A48B-F400-C2E8-FD0A4ACA2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allows robots to capture relevant features in their environment</a:t>
            </a:r>
          </a:p>
        </p:txBody>
      </p:sp>
    </p:spTree>
    <p:extLst>
      <p:ext uri="{BB962C8B-B14F-4D97-AF65-F5344CB8AC3E}">
        <p14:creationId xmlns:p14="http://schemas.microsoft.com/office/powerpoint/2010/main" val="3050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8BDED-42C8-A07E-62BB-E0AB8DE2E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Shot Detector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B05C8-82AD-F656-A5F4-86EE00AD3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/>
              <a:t>Use convolutional filters to filter feature maps into objects</a:t>
            </a:r>
          </a:p>
          <a:p>
            <a:r>
              <a:rPr lang="en-US"/>
              <a:t>Architecture research to deployment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B45CB-2429-7BF8-2A0A-6551E2ACB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117" y="2884545"/>
            <a:ext cx="7772400" cy="329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86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1C1538-7882-2995-1777-C3A56B20B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98" y="990143"/>
            <a:ext cx="11183804" cy="524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4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8BE4-205E-DB41-0BAF-E5484070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Postmortem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DB925-C028-B719-815F-1784A09A3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50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C56D0-057A-5FFF-AE39-705722231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RT-DETR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59EA6-7032-9EEE-34DB-29CF5C933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Uses attention for translational context</a:t>
            </a:r>
          </a:p>
          <a:p>
            <a:r>
              <a:rPr lang="en-US"/>
              <a:t>Wrote dataloaders</a:t>
            </a:r>
          </a:p>
          <a:p>
            <a:r>
              <a:rPr lang="en-US"/>
              <a:t>Conducted training runs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6F7A24-C61A-B70E-775C-A7B0B506D116}"/>
              </a:ext>
            </a:extLst>
          </p:cNvPr>
          <p:cNvSpPr txBox="1"/>
          <p:nvPr/>
        </p:nvSpPr>
        <p:spPr>
          <a:xfrm>
            <a:off x="6096000" y="5369357"/>
            <a:ext cx="600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HEY</a:t>
            </a:r>
          </a:p>
        </p:txBody>
      </p:sp>
    </p:spTree>
    <p:extLst>
      <p:ext uri="{BB962C8B-B14F-4D97-AF65-F5344CB8AC3E}">
        <p14:creationId xmlns:p14="http://schemas.microsoft.com/office/powerpoint/2010/main" val="1092649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4BD86-F394-F73E-1234-B63856B8B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Postmortem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EA017-78C3-864B-F63D-AC3A1CF19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50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A659CA-4291-1C75-B450-04E15C1B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/>
            </a:br>
            <a:r>
              <a:rPr lang="en-US"/>
              <a:t>Reinforcement Learning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90E43-4D58-2529-2315-25CEDC873B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Flappy Bird Case Study</a:t>
            </a:r>
          </a:p>
        </p:txBody>
      </p:sp>
    </p:spTree>
    <p:extLst>
      <p:ext uri="{BB962C8B-B14F-4D97-AF65-F5344CB8AC3E}">
        <p14:creationId xmlns:p14="http://schemas.microsoft.com/office/powerpoint/2010/main" val="3117989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0E938-149E-9F48-664B-F896C3F1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136A6-C711-4A62-8C56-6EA75A4E4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Mathematical framework for sequential decision making</a:t>
            </a:r>
          </a:p>
          <a:p>
            <a:r>
              <a:rPr lang="en-US"/>
              <a:t>Formally described with Markov Decision Processes (MDPs)</a:t>
            </a:r>
          </a:p>
          <a:p>
            <a:pPr lvl="1"/>
            <a:r>
              <a:rPr lang="en-US"/>
              <a:t>State Space S</a:t>
            </a:r>
          </a:p>
          <a:p>
            <a:pPr lvl="1"/>
            <a:r>
              <a:rPr lang="en-US"/>
              <a:t>Action Space A</a:t>
            </a:r>
          </a:p>
          <a:p>
            <a:pPr lvl="1"/>
            <a:r>
              <a:rPr lang="en-US"/>
              <a:t>Environment Dynamics P(S',R | S,A)</a:t>
            </a:r>
          </a:p>
          <a:p>
            <a:pPr lvl="1"/>
            <a:r>
              <a:rPr lang="en-US"/>
              <a:t>Reward function R(S' | S,A)</a:t>
            </a:r>
          </a:p>
          <a:p>
            <a:r>
              <a:rPr lang="en-US"/>
              <a:t>Trajectory: Interaction with the environment</a:t>
            </a:r>
          </a:p>
        </p:txBody>
      </p:sp>
    </p:spTree>
    <p:extLst>
      <p:ext uri="{BB962C8B-B14F-4D97-AF65-F5344CB8AC3E}">
        <p14:creationId xmlns:p14="http://schemas.microsoft.com/office/powerpoint/2010/main" val="466383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416F3-866C-9ED5-B3E7-3CBCB6607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Q-Learning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5F62E-C56B-DFD9-8C07-C329904F3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 a table to store each state-action</a:t>
            </a:r>
          </a:p>
          <a:p>
            <a:r>
              <a:rPr lang="en-US"/>
              <a:t>Propagate rewards backwards each timestep</a:t>
            </a:r>
          </a:p>
          <a:p>
            <a:r>
              <a:rPr lang="en-US"/>
              <a:t>Q-tables need an entry for each state-action</a:t>
            </a:r>
          </a:p>
          <a:p>
            <a:pPr lvl="1"/>
            <a:r>
              <a:rPr lang="en-US"/>
              <a:t>Mathematically impossible in Real numbers</a:t>
            </a:r>
          </a:p>
          <a:p>
            <a:pPr lvl="1"/>
            <a:r>
              <a:rPr lang="en-US"/>
              <a:t>Practically impossible in float32</a:t>
            </a:r>
          </a:p>
          <a:p>
            <a:r>
              <a:rPr lang="en-US"/>
              <a:t>Manual feature-engineering is a popular technique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91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B4A62-8FDE-EC08-BD81-2230002F1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"Deep" Q-Networks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395F-1C5D-EEF9-AB9F-761EF2D8E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Automates feature engineering with neural networks</a:t>
            </a:r>
          </a:p>
          <a:p>
            <a:r>
              <a:rPr lang="en-US"/>
              <a:t>Analyze compressed state representations where actions are consistent</a:t>
            </a:r>
          </a:p>
          <a:p>
            <a:r>
              <a:rPr lang="en-US"/>
              <a:t>Credit assignment happens without trying</a:t>
            </a:r>
          </a:p>
        </p:txBody>
      </p:sp>
    </p:spTree>
    <p:extLst>
      <p:ext uri="{BB962C8B-B14F-4D97-AF65-F5344CB8AC3E}">
        <p14:creationId xmlns:p14="http://schemas.microsoft.com/office/powerpoint/2010/main" val="425613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8CFF1-3CE1-7ED8-60F1-89B6D04DF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Postmortem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B2951-E595-8E87-DEFE-B0FAF02B0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Should have started with replicating prior work</a:t>
            </a:r>
          </a:p>
        </p:txBody>
      </p:sp>
    </p:spTree>
    <p:extLst>
      <p:ext uri="{BB962C8B-B14F-4D97-AF65-F5344CB8AC3E}">
        <p14:creationId xmlns:p14="http://schemas.microsoft.com/office/powerpoint/2010/main" val="1573233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9B6AD05-0328-8C4C-AA22-AB10C95206A9}">
  <we:reference id="wa200004052" version="1.0.0.2" store="en-US" storeType="OMEX"/>
  <we:alternateReferences>
    <we:reference id="wa200004052" version="1.0.0.2" store="WA200004052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2936</TotalTime>
  <Words>334</Words>
  <Application>Microsoft Macintosh PowerPoint</Application>
  <PresentationFormat>Widescreen</PresentationFormat>
  <Paragraphs>75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Catching up to Anduril</vt:lpstr>
      <vt:lpstr>PowerPoint Presentation</vt:lpstr>
      <vt:lpstr>Path Planning</vt:lpstr>
      <vt:lpstr>Navigation</vt:lpstr>
      <vt:lpstr>Postmortem</vt:lpstr>
      <vt:lpstr>Motion Control</vt:lpstr>
      <vt:lpstr>Path Planning</vt:lpstr>
      <vt:lpstr>Postmortem</vt:lpstr>
      <vt:lpstr>Autonomy</vt:lpstr>
      <vt:lpstr>Postmortem</vt:lpstr>
      <vt:lpstr>Automated Target Recognition</vt:lpstr>
      <vt:lpstr>Single Shot Detector</vt:lpstr>
      <vt:lpstr>PowerPoint Presentation</vt:lpstr>
      <vt:lpstr>Postmortem</vt:lpstr>
      <vt:lpstr>RT-DETR</vt:lpstr>
      <vt:lpstr>Postmortem</vt:lpstr>
      <vt:lpstr> Reinforcement Learning</vt:lpstr>
      <vt:lpstr>Background</vt:lpstr>
      <vt:lpstr>Q-Learning</vt:lpstr>
      <vt:lpstr>"Deep" Q-Networks</vt:lpstr>
      <vt:lpstr>Postmortem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Akshay Gulabrao</dc:creator>
  <cp:keywords/>
  <dc:description/>
  <cp:lastModifiedBy>Akshay Gulabrao</cp:lastModifiedBy>
  <cp:revision>45</cp:revision>
  <dcterms:created xsi:type="dcterms:W3CDTF">2025-01-03T00:17:19Z</dcterms:created>
  <dcterms:modified xsi:type="dcterms:W3CDTF">2025-01-06T20:31:42Z</dcterms:modified>
  <cp:category/>
</cp:coreProperties>
</file>